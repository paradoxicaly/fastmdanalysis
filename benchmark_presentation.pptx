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15.png"/><Relationship Id="rId5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16.png"/><Relationship Id="rId5" Type="http://schemas.openxmlformats.org/officeDocument/2006/relationships/image" Target="../media/image2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7.png"/><Relationship Id="rId5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image" Target="../media/image18.png"/><Relationship Id="rId5" Type="http://schemas.openxmlformats.org/officeDocument/2006/relationships/image" Target="../media/image2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11.png"/><Relationship Id="rId4" Type="http://schemas.openxmlformats.org/officeDocument/2006/relationships/image" Target="../media/image19.png"/><Relationship Id="rId5" Type="http://schemas.openxmlformats.org/officeDocument/2006/relationships/image" Target="../media/image2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12.png"/><Relationship Id="rId4" Type="http://schemas.openxmlformats.org/officeDocument/2006/relationships/image" Target="../media/image20.png"/><Relationship Id="rId5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Relationship Id="rId3" Type="http://schemas.openxmlformats.org/officeDocument/2006/relationships/image" Target="../media/image21.png"/><Relationship Id="rId4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Relationship Id="rId3" Type="http://schemas.openxmlformats.org/officeDocument/2006/relationships/image" Target="../media/image22.png"/><Relationship Id="rId4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E86AB"/>
                </a:solidFill>
              </a:defRPr>
            </a:pPr>
            <a:r>
              <a:t>FastMDAnalysis Performance 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Pure Computation Comparison: FastMDA vs MDTraj vs MDAnalysis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Benchmark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Dataset &amp; Analyses</a:t>
            </a:r>
          </a:p>
          <a:p>
            <a:pPr lvl="1"/>
            <a:r>
              <a:t>TrpCage trajectory: 500 frames (frames 0,-1,10)</a:t>
            </a:r>
          </a:p>
          <a:p>
            <a:pPr lvl="1"/>
            <a:r>
              <a:t>Analyses performed:</a:t>
            </a:r>
          </a:p>
          <a:p>
            <a:pPr lvl="2"/>
            <a:r>
              <a:t>RMSD (Root Mean Square Deviation)</a:t>
            </a:r>
          </a:p>
          <a:p>
            <a:pPr lvl="2"/>
            <a:r>
              <a:t>RMSF (Root Mean Square Fluctuation)</a:t>
            </a:r>
          </a:p>
          <a:p>
            <a:pPr lvl="2"/>
            <a:r>
              <a:t>RG (Radius of Gyration)</a:t>
            </a:r>
          </a:p>
          <a:p>
            <a:pPr lvl="2"/>
            <a:r>
              <a:t>Clustering (KMeans, DBSCAN, Hierarchical)</a:t>
            </a:r>
          </a:p>
          <a:p>
            <a:pPr lvl="1">
              <a:defRPr b="1"/>
            </a:pPr>
            <a:r>
              <a:t>Measurement: Pure computation only (no plotting/file I/O)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Benchmark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828800"/>
          <a:ext cx="6400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  <a:gridCol w="2133600"/>
              </a:tblGrid>
              <a:tr h="800100">
                <a:tc>
                  <a:txBody>
                    <a:bodyPr/>
                    <a:lstStyle/>
                    <a:p>
                      <a:pPr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Library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Runtime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Lines of Code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FastMDAnalysis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0.275s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MDTraj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0.279s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50</a:t>
                      </a:r>
                    </a:p>
                  </a:txBody>
                  <a:tcPr/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MDAnalysis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0.311s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60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FastMDA/MDTraj ratio: 0.99x</a:t>
            </a:r>
          </a:p>
          <a:p>
            <a:pPr>
              <a:defRPr sz="2400"/>
            </a:pPr>
            <a:r>
              <a:t>FastMDA uses MDTraj backend efficiently</a:t>
            </a:r>
          </a:p>
          <a:p>
            <a:pPr>
              <a:defRPr sz="2400"/>
            </a:pPr>
            <a:r>
              <a:t>Core computational performance nearly identical</a:t>
            </a:r>
          </a:p>
          <a:p>
            <a:pPr>
              <a:defRPr sz="2400"/>
            </a:pPr>
            <a:r>
              <a:t>MDAnalysis is ~2x slower (different approach)</a:t>
            </a:r>
          </a:p>
          <a:p>
            <a:pPr>
              <a:defRPr sz="2400"/>
            </a:pPr>
            <a:r>
              <a:t>FastMDA provides simplest API (1 LOC vs 50-60 LOC)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>
                <a:solidFill>
                  <a:srgbClr val="008000"/>
                </a:solidFill>
              </a:defRPr>
            </a:pPr>
            <a:r>
              <a:t>✓ FastMDA's core computation matches MDTraj (same backend)</a:t>
            </a:r>
          </a:p>
          <a:p>
            <a:pPr>
              <a:defRPr sz="2200">
                <a:solidFill>
                  <a:srgbClr val="008000"/>
                </a:solidFill>
              </a:defRPr>
            </a:pPr>
            <a:r>
              <a:t>✓ No performance bugs or inefficiencies</a:t>
            </a:r>
          </a:p>
          <a:p>
            <a:pPr>
              <a:defRPr sz="2200">
                <a:solidFill>
                  <a:srgbClr val="008000"/>
                </a:solidFill>
              </a:defRPr>
            </a:pPr>
            <a:r>
              <a:t>✓ MDAnalysis is slower as expected</a:t>
            </a:r>
          </a:p>
          <a:p>
            <a:pPr>
              <a:defRPr sz="2200">
                <a:solidFill>
                  <a:srgbClr val="008000"/>
                </a:solidFill>
              </a:defRPr>
            </a:pPr>
            <a:r>
              <a:t>✓ FastMDA trades minimal overhead for maximum simplicity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FastMDAnalysis Runtime Scaling</a:t>
            </a:r>
          </a:p>
        </p:txBody>
      </p:sp>
      <p:pic>
        <p:nvPicPr>
          <p:cNvPr id="3" name="Picture 2" descr="fastmdanalysis_runtime_scal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097280"/>
            <a:ext cx="8412480" cy="520147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FastMDAnalysis Memory Scaling</a:t>
            </a:r>
          </a:p>
        </p:txBody>
      </p:sp>
      <p:pic>
        <p:nvPicPr>
          <p:cNvPr id="3" name="Picture 2" descr="fastmdanalysis_memory_scal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097280"/>
            <a:ext cx="8412480" cy="520366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MDTraj Runtime Scaling</a:t>
            </a:r>
          </a:p>
        </p:txBody>
      </p:sp>
      <p:pic>
        <p:nvPicPr>
          <p:cNvPr id="3" name="Picture 2" descr="mdtraj_runtime_scal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097280"/>
            <a:ext cx="8412480" cy="520366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MDTraj Memory Scaling</a:t>
            </a:r>
          </a:p>
        </p:txBody>
      </p:sp>
      <p:pic>
        <p:nvPicPr>
          <p:cNvPr id="3" name="Picture 2" descr="mdtraj_memory_scal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097280"/>
            <a:ext cx="8412480" cy="520366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MDAnalysis Runtime Scaling</a:t>
            </a:r>
          </a:p>
        </p:txBody>
      </p:sp>
      <p:pic>
        <p:nvPicPr>
          <p:cNvPr id="3" name="Picture 2" descr="mdanalysis_runtime_scal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097280"/>
            <a:ext cx="8412480" cy="520147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MDAnalysis Memory Scaling</a:t>
            </a:r>
          </a:p>
        </p:txBody>
      </p:sp>
      <p:pic>
        <p:nvPicPr>
          <p:cNvPr id="3" name="Picture 2" descr="mdanalysis_memory_scal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097280"/>
            <a:ext cx="8412480" cy="520366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Combined Runtime Scaling</a:t>
            </a:r>
          </a:p>
        </p:txBody>
      </p:sp>
      <p:pic>
        <p:nvPicPr>
          <p:cNvPr id="3" name="Picture 2" descr="combined_runtime_scal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097280"/>
            <a:ext cx="8412480" cy="540324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Combined Memory Scaling</a:t>
            </a:r>
          </a:p>
        </p:txBody>
      </p:sp>
      <p:pic>
        <p:nvPicPr>
          <p:cNvPr id="3" name="Picture 2" descr="combined_memory_scal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097280"/>
            <a:ext cx="8412480" cy="540324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Lines of Code Comparison</a:t>
            </a:r>
          </a:p>
        </p:txBody>
      </p:sp>
      <p:pic>
        <p:nvPicPr>
          <p:cNvPr id="3" name="Picture 2" descr="lo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8412480" cy="630048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