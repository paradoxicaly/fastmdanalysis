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image" Target="../media/image4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Relationship Id="rId3" Type="http://schemas.openxmlformats.org/officeDocument/2006/relationships/image" Target="../media/image6.png"/><Relationship Id="rId4" Type="http://schemas.openxmlformats.org/officeDocument/2006/relationships/image" Target="../media/image7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Relationship Id="rId3" Type="http://schemas.openxmlformats.org/officeDocument/2006/relationships/image" Target="../media/image9.png"/><Relationship Id="rId4" Type="http://schemas.openxmlformats.org/officeDocument/2006/relationships/image" Target="../media/image10.png"/><Relationship Id="rId5" Type="http://schemas.openxmlformats.org/officeDocument/2006/relationships/image" Target="../media/image11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2.png"/><Relationship Id="rId3" Type="http://schemas.openxmlformats.org/officeDocument/2006/relationships/image" Target="../media/image13.png"/><Relationship Id="rId4" Type="http://schemas.openxmlformats.org/officeDocument/2006/relationships/image" Target="../media/image14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5.png"/><Relationship Id="rId3" Type="http://schemas.openxmlformats.org/officeDocument/2006/relationships/image" Target="../media/image16.png"/><Relationship Id="rId4" Type="http://schemas.openxmlformats.org/officeDocument/2006/relationships/image" Target="../media/image17.png"/><Relationship Id="rId5" Type="http://schemas.openxmlformats.org/officeDocument/2006/relationships/image" Target="../media/image18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9.png"/><Relationship Id="rId3" Type="http://schemas.openxmlformats.org/officeDocument/2006/relationships/image" Target="../media/image20.png"/><Relationship Id="rId4" Type="http://schemas.openxmlformats.org/officeDocument/2006/relationships/image" Target="../media/image21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2.png"/><Relationship Id="rId3" Type="http://schemas.openxmlformats.org/officeDocument/2006/relationships/image" Target="../media/image23.png"/><Relationship Id="rId4" Type="http://schemas.openxmlformats.org/officeDocument/2006/relationships/image" Target="../media/image24.png"/><Relationship Id="rId5" Type="http://schemas.openxmlformats.org/officeDocument/2006/relationships/image" Target="../media/image25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6.png"/><Relationship Id="rId3" Type="http://schemas.openxmlformats.org/officeDocument/2006/relationships/image" Target="../media/image27.png"/><Relationship Id="rId4" Type="http://schemas.openxmlformats.org/officeDocument/2006/relationships/image" Target="../media/image28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9.png"/><Relationship Id="rId3" Type="http://schemas.openxmlformats.org/officeDocument/2006/relationships/image" Target="../media/image30.png"/><Relationship Id="rId4" Type="http://schemas.openxmlformats.org/officeDocument/2006/relationships/image" Target="../media/image31.png"/><Relationship Id="rId5" Type="http://schemas.openxmlformats.org/officeDocument/2006/relationships/image" Target="../media/image32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3.png"/><Relationship Id="rId3" Type="http://schemas.openxmlformats.org/officeDocument/2006/relationships/image" Target="../media/image34.png"/><Relationship Id="rId4" Type="http://schemas.openxmlformats.org/officeDocument/2006/relationships/image" Target="../media/image35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6.png"/><Relationship Id="rId3" Type="http://schemas.openxmlformats.org/officeDocument/2006/relationships/image" Target="../media/image37.png"/><Relationship Id="rId4" Type="http://schemas.openxmlformats.org/officeDocument/2006/relationships/image" Target="../media/image38.png"/><Relationship Id="rId5" Type="http://schemas.openxmlformats.org/officeDocument/2006/relationships/image" Target="../media/image39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FastMdAnalysis Benchmarks – Ubiquitin 99 (500 frames)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Runtime, memory, and usability comparisons versus MDTraj and MDAnalysis</a:t>
            </a:r>
          </a:p>
          <a:p>
            <a:r>
              <a:t>Note: third-party metrics include helper scripts for exporting data and plots.</a:t>
            </a:r>
          </a:p>
          <a:p>
            <a:r>
              <a:t>Dataset: Ubiquitin 99 (500 frames)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8288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 sz="2400"/>
              <a:t>Overview: Dependencies, LOC, Runtime, Memory</a:t>
            </a:r>
          </a:p>
        </p:txBody>
      </p:sp>
      <p:pic>
        <p:nvPicPr>
          <p:cNvPr id="3" name="Picture 2" descr="external_module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914400"/>
            <a:ext cx="3657600" cy="2268638"/>
          </a:xfrm>
          <a:prstGeom prst="rect">
            <a:avLst/>
          </a:prstGeom>
        </p:spPr>
      </p:pic>
      <p:pic>
        <p:nvPicPr>
          <p:cNvPr id="4" name="Picture 3" descr="loc_totals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0" y="914400"/>
            <a:ext cx="3657600" cy="2268638"/>
          </a:xfrm>
          <a:prstGeom prst="rect">
            <a:avLst/>
          </a:prstGeom>
        </p:spPr>
      </p:pic>
      <p:pic>
        <p:nvPicPr>
          <p:cNvPr id="5" name="Picture 4" descr="runtime_totals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200" y="3840480"/>
            <a:ext cx="3657600" cy="2268638"/>
          </a:xfrm>
          <a:prstGeom prst="rect">
            <a:avLst/>
          </a:prstGeom>
        </p:spPr>
      </p:pic>
      <p:pic>
        <p:nvPicPr>
          <p:cNvPr id="6" name="Picture 5" descr="peak_mem_totals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572000" y="3840480"/>
            <a:ext cx="3657600" cy="2268638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8288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 sz="2400"/>
              <a:t>Instrumentation overview: touchpoints, modules, functions, LOC</a:t>
            </a:r>
          </a:p>
        </p:txBody>
      </p:sp>
      <p:pic>
        <p:nvPicPr>
          <p:cNvPr id="3" name="Picture 2" descr="instrumentation_overview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914400"/>
            <a:ext cx="3657600" cy="2323070"/>
          </a:xfrm>
          <a:prstGeom prst="rect">
            <a:avLst/>
          </a:prstGeom>
        </p:spPr>
      </p:pic>
      <p:pic>
        <p:nvPicPr>
          <p:cNvPr id="4" name="Picture 3" descr="modules_per_benchmark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0" y="914400"/>
            <a:ext cx="3657600" cy="2181986"/>
          </a:xfrm>
          <a:prstGeom prst="rect">
            <a:avLst/>
          </a:prstGeom>
        </p:spPr>
      </p:pic>
      <p:pic>
        <p:nvPicPr>
          <p:cNvPr id="5" name="Picture 4" descr="functions_per_benchmark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200" y="3840480"/>
            <a:ext cx="3657600" cy="2181986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 sz="2800"/>
              <a:t>Cluster Ubiquitin99 500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822960"/>
            <a:ext cx="8229600" cy="1463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i="1"/>
            </a:pPr>
            <a:r>
              <a:t>Note: MDTraj and MDAnalysis metrics include helper scripts we wrote to save data files and plots; their APIs do not emit those artifacts automatically.</a:t>
            </a:r>
          </a:p>
        </p:txBody>
      </p:sp>
      <p:pic>
        <p:nvPicPr>
          <p:cNvPr id="4" name="Picture 3" descr="runtime_summary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828800"/>
            <a:ext cx="3657600" cy="2108499"/>
          </a:xfrm>
          <a:prstGeom prst="rect">
            <a:avLst/>
          </a:prstGeom>
        </p:spPr>
      </p:pic>
      <p:pic>
        <p:nvPicPr>
          <p:cNvPr id="5" name="Picture 4" descr="runtime_summary_spli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0" y="1828800"/>
            <a:ext cx="3657600" cy="2131063"/>
          </a:xfrm>
          <a:prstGeom prst="rect">
            <a:avLst/>
          </a:prstGeom>
        </p:spPr>
      </p:pic>
      <p:pic>
        <p:nvPicPr>
          <p:cNvPr id="6" name="Picture 5" descr="runtime_summary_split_all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200" y="4480560"/>
            <a:ext cx="3657600" cy="1828800"/>
          </a:xfrm>
          <a:prstGeom prst="rect">
            <a:avLst/>
          </a:prstGeom>
        </p:spPr>
      </p:pic>
      <p:pic>
        <p:nvPicPr>
          <p:cNvPr id="7" name="Picture 6" descr="memory_summary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572000" y="4480560"/>
            <a:ext cx="3657600" cy="1969477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 sz="2800"/>
              <a:t>Cluster Ubiquitin99 500 (continued)</a:t>
            </a:r>
          </a:p>
        </p:txBody>
      </p:sp>
      <p:pic>
        <p:nvPicPr>
          <p:cNvPr id="3" name="Picture 2" descr="memory_distributi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097280"/>
            <a:ext cx="3657600" cy="1954443"/>
          </a:xfrm>
          <a:prstGeom prst="rect">
            <a:avLst/>
          </a:prstGeom>
        </p:spPr>
      </p:pic>
      <p:pic>
        <p:nvPicPr>
          <p:cNvPr id="4" name="Picture 3" descr="runtime_distribution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0" y="1097280"/>
            <a:ext cx="3657600" cy="2096168"/>
          </a:xfrm>
          <a:prstGeom prst="rect">
            <a:avLst/>
          </a:prstGeom>
        </p:spPr>
      </p:pic>
      <p:pic>
        <p:nvPicPr>
          <p:cNvPr id="5" name="Picture 4" descr="loc_summary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200" y="3749039"/>
            <a:ext cx="3657600" cy="2268638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 sz="2800"/>
              <a:t>Rg Ubiquitin99 500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822960"/>
            <a:ext cx="8229600" cy="1463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i="1"/>
            </a:pPr>
            <a:r>
              <a:t>Note: MDTraj and MDAnalysis metrics include helper scripts we wrote to save data files and plots; their APIs do not emit those artifacts automatically.</a:t>
            </a:r>
          </a:p>
        </p:txBody>
      </p:sp>
      <p:pic>
        <p:nvPicPr>
          <p:cNvPr id="4" name="Picture 3" descr="runtime_summary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828800"/>
            <a:ext cx="3657600" cy="2251538"/>
          </a:xfrm>
          <a:prstGeom prst="rect">
            <a:avLst/>
          </a:prstGeom>
        </p:spPr>
      </p:pic>
      <p:pic>
        <p:nvPicPr>
          <p:cNvPr id="5" name="Picture 4" descr="runtime_summary_spli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0" y="1828800"/>
            <a:ext cx="3657600" cy="2268638"/>
          </a:xfrm>
          <a:prstGeom prst="rect">
            <a:avLst/>
          </a:prstGeom>
        </p:spPr>
      </p:pic>
      <p:pic>
        <p:nvPicPr>
          <p:cNvPr id="6" name="Picture 5" descr="runtime_summary_split_all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200" y="4480560"/>
            <a:ext cx="3657600" cy="2036618"/>
          </a:xfrm>
          <a:prstGeom prst="rect">
            <a:avLst/>
          </a:prstGeom>
        </p:spPr>
      </p:pic>
      <p:pic>
        <p:nvPicPr>
          <p:cNvPr id="7" name="Picture 6" descr="memory_summary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572000" y="4480560"/>
            <a:ext cx="3657600" cy="2098623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 sz="2800"/>
              <a:t>Rg Ubiquitin99 500 (continued)</a:t>
            </a:r>
          </a:p>
        </p:txBody>
      </p:sp>
      <p:pic>
        <p:nvPicPr>
          <p:cNvPr id="3" name="Picture 2" descr="memory_distributi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097280"/>
            <a:ext cx="3657600" cy="2169763"/>
          </a:xfrm>
          <a:prstGeom prst="rect">
            <a:avLst/>
          </a:prstGeom>
        </p:spPr>
      </p:pic>
      <p:pic>
        <p:nvPicPr>
          <p:cNvPr id="4" name="Picture 3" descr="runtime_distribution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0" y="1097280"/>
            <a:ext cx="3657600" cy="2226365"/>
          </a:xfrm>
          <a:prstGeom prst="rect">
            <a:avLst/>
          </a:prstGeom>
        </p:spPr>
      </p:pic>
      <p:pic>
        <p:nvPicPr>
          <p:cNvPr id="5" name="Picture 4" descr="loc_summary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200" y="3749039"/>
            <a:ext cx="3657600" cy="2268638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 sz="2800"/>
              <a:t>Rmsd Ubiquitin99 500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822960"/>
            <a:ext cx="8229600" cy="1463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i="1"/>
            </a:pPr>
            <a:r>
              <a:t>Note: MDTraj and MDAnalysis metrics include helper scripts we wrote to save data files and plots; their APIs do not emit those artifacts automatically.</a:t>
            </a:r>
          </a:p>
        </p:txBody>
      </p:sp>
      <p:pic>
        <p:nvPicPr>
          <p:cNvPr id="4" name="Picture 3" descr="runtime_summary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828800"/>
            <a:ext cx="3657600" cy="2193665"/>
          </a:xfrm>
          <a:prstGeom prst="rect">
            <a:avLst/>
          </a:prstGeom>
        </p:spPr>
      </p:pic>
      <p:pic>
        <p:nvPicPr>
          <p:cNvPr id="5" name="Picture 4" descr="runtime_summary_spli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0" y="1828800"/>
            <a:ext cx="3657600" cy="2209894"/>
          </a:xfrm>
          <a:prstGeom prst="rect">
            <a:avLst/>
          </a:prstGeom>
        </p:spPr>
      </p:pic>
      <p:pic>
        <p:nvPicPr>
          <p:cNvPr id="6" name="Picture 5" descr="runtime_summary_split_all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200" y="4480560"/>
            <a:ext cx="3657600" cy="1945954"/>
          </a:xfrm>
          <a:prstGeom prst="rect">
            <a:avLst/>
          </a:prstGeom>
        </p:spPr>
      </p:pic>
      <p:pic>
        <p:nvPicPr>
          <p:cNvPr id="7" name="Picture 6" descr="memory_summary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572000" y="4480560"/>
            <a:ext cx="3657600" cy="2088839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 sz="2800"/>
              <a:t>Rmsd Ubiquitin99 500 (continued)</a:t>
            </a:r>
          </a:p>
        </p:txBody>
      </p:sp>
      <p:pic>
        <p:nvPicPr>
          <p:cNvPr id="3" name="Picture 2" descr="memory_distributi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097280"/>
            <a:ext cx="3657600" cy="2048256"/>
          </a:xfrm>
          <a:prstGeom prst="rect">
            <a:avLst/>
          </a:prstGeom>
        </p:spPr>
      </p:pic>
      <p:pic>
        <p:nvPicPr>
          <p:cNvPr id="4" name="Picture 3" descr="runtime_distribution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0" y="1097280"/>
            <a:ext cx="3657600" cy="2133600"/>
          </a:xfrm>
          <a:prstGeom prst="rect">
            <a:avLst/>
          </a:prstGeom>
        </p:spPr>
      </p:pic>
      <p:pic>
        <p:nvPicPr>
          <p:cNvPr id="5" name="Picture 4" descr="loc_summary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200" y="3749039"/>
            <a:ext cx="3657600" cy="2268638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 sz="2800"/>
              <a:t>Rmsf Ubiquitin99 500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822960"/>
            <a:ext cx="8229600" cy="1463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i="1"/>
            </a:pPr>
            <a:r>
              <a:t>Note: MDTraj and MDAnalysis metrics include helper scripts we wrote to save data files and plots; their APIs do not emit those artifacts automatically.</a:t>
            </a:r>
          </a:p>
        </p:txBody>
      </p:sp>
      <p:pic>
        <p:nvPicPr>
          <p:cNvPr id="4" name="Picture 3" descr="runtime_summary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828800"/>
            <a:ext cx="3657600" cy="2201749"/>
          </a:xfrm>
          <a:prstGeom prst="rect">
            <a:avLst/>
          </a:prstGeom>
        </p:spPr>
      </p:pic>
      <p:pic>
        <p:nvPicPr>
          <p:cNvPr id="5" name="Picture 4" descr="runtime_summary_spli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0" y="1828800"/>
            <a:ext cx="3657600" cy="2218099"/>
          </a:xfrm>
          <a:prstGeom prst="rect">
            <a:avLst/>
          </a:prstGeom>
        </p:spPr>
      </p:pic>
      <p:pic>
        <p:nvPicPr>
          <p:cNvPr id="6" name="Picture 5" descr="runtime_summary_split_all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200" y="4480560"/>
            <a:ext cx="3657600" cy="1956576"/>
          </a:xfrm>
          <a:prstGeom prst="rect">
            <a:avLst/>
          </a:prstGeom>
        </p:spPr>
      </p:pic>
      <p:pic>
        <p:nvPicPr>
          <p:cNvPr id="7" name="Picture 6" descr="memory_summary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572000" y="4480560"/>
            <a:ext cx="3657600" cy="2106021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 sz="2800"/>
              <a:t>Rmsf Ubiquitin99 500 (continued)</a:t>
            </a:r>
          </a:p>
        </p:txBody>
      </p:sp>
      <p:pic>
        <p:nvPicPr>
          <p:cNvPr id="3" name="Picture 2" descr="memory_distributi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097280"/>
            <a:ext cx="3657600" cy="2096168"/>
          </a:xfrm>
          <a:prstGeom prst="rect">
            <a:avLst/>
          </a:prstGeom>
        </p:spPr>
      </p:pic>
      <p:pic>
        <p:nvPicPr>
          <p:cNvPr id="4" name="Picture 3" descr="runtime_distribution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0" y="1097280"/>
            <a:ext cx="3657600" cy="2151529"/>
          </a:xfrm>
          <a:prstGeom prst="rect">
            <a:avLst/>
          </a:prstGeom>
        </p:spPr>
      </p:pic>
      <p:pic>
        <p:nvPicPr>
          <p:cNvPr id="5" name="Picture 4" descr="loc_summary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200" y="3749039"/>
            <a:ext cx="3657600" cy="2268638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orchestrator_single_run_runtim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005840"/>
            <a:ext cx="3931920" cy="2550114"/>
          </a:xfrm>
          <a:prstGeom prst="rect">
            <a:avLst/>
          </a:prstGeom>
        </p:spPr>
      </p:pic>
      <p:pic>
        <p:nvPicPr>
          <p:cNvPr id="3" name="Picture 2" descr="orchestrator_single_run_memory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0" y="1005840"/>
            <a:ext cx="3931920" cy="2486361"/>
          </a:xfrm>
          <a:prstGeom prst="rect">
            <a:avLst/>
          </a:prstGeom>
        </p:spPr>
      </p:pic>
      <p:pic>
        <p:nvPicPr>
          <p:cNvPr id="4" name="Picture 3" descr="orchestrator_single_run_analysis_breakdown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200" y="4480560"/>
            <a:ext cx="3931920" cy="2450327"/>
          </a:xfrm>
          <a:prstGeom prst="rect">
            <a:avLst/>
          </a:prstGeom>
        </p:spPr>
      </p:pic>
      <p:pic>
        <p:nvPicPr>
          <p:cNvPr id="5" name="Picture 4" descr="orchestrator_single_run_loc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572000" y="4480560"/>
            <a:ext cx="3931920" cy="2486361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Single-run vs aggregated FastMDAnalysis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640080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i="1"/>
            </a:pPr>
            <a:r>
              <a:t>Aggregated bars sum the computation, plotting, and overhead from individual analyze runs. Single-run bars reflect the orchestrated analyze(...) benchmark metrics for those same slices. Bottom-left chart breaks down runtime per analysis for the single run (slides counted as plotting).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8229600" cy="5943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1"/>
              <a:t>Instrumentation Overview</a:t>
            </a:r>
          </a:p>
          <a:p>
            <a:pPr lvl="1">
              <a:defRPr sz="1600"/>
            </a:pPr>
            <a:r>
              <a:t>FastMDAnalysis: 6 modules, 11 functions, 0 external imports, 12 runs, 12 successful, 0 exceptions.</a:t>
            </a:r>
          </a:p>
          <a:p>
            <a:pPr lvl="1">
              <a:defRPr sz="1600"/>
            </a:pPr>
            <a:r>
              <a:t>Mdtraj: 4 modules, 10 functions, 3 external imports, 12 runs, 12 successful, 0 exceptions.</a:t>
            </a:r>
          </a:p>
          <a:p>
            <a:pPr lvl="1">
              <a:defRPr sz="1600"/>
            </a:pPr>
            <a:r>
              <a:t>Mdanalysis: 5 modules, 10 functions, 3 external imports, 12 runs, 12 successful, 0 exceptions.</a:t>
            </a:r>
          </a:p>
          <a:p>
            <a:pPr lvl="1">
              <a:defRPr sz="1600"/>
            </a:pPr>
            <a:r>
              <a:t>Snippet footprint overview: FastMDAnalysis 1 calc / 1 plot (2 total) lines, Mdtraj 21 calc / 28 plot (49 total) lines, Mdanalysis 38 calc / 28 plot (66 total) lines.</a:t>
            </a:r>
          </a:p>
          <a:p>
            <a:pPr lvl="1">
              <a:defRPr sz="1600"/>
            </a:pPr>
            <a:r>
              <a:t>Runtime overview: FastMDAnalysis 8.11s calc / 4.53s plot / 0.06s overhead (12.70s total), Mdtraj 0.16s calc / 4.56s plot / 0.10s overhead (4.82s total), Mdanalysis 5.35s calc / 4.77s plot / 0.01s overhead (10.13s total).</a:t>
            </a:r>
          </a:p>
          <a:p>
            <a:pPr lvl="1">
              <a:defRPr sz="1200" i="1"/>
            </a:pPr>
            <a:r>
              <a:t>Note: FastMDAnalysis shows single-line analyze() orchestrator with integrated file I/O. Calc/plot split estimated using 17.5%/82.5% ratio from individual benchmarks. Other tools show aggregate with file I/O separated. Memory includes all analyses running together.</a:t>
            </a:r>
          </a:p>
          <a:p>
            <a:pPr lvl="1">
              <a:defRPr sz="1600"/>
            </a:pPr>
            <a:r>
              <a:t>Peak memory overview: FastMDAnalysis 14.23 MB calc / 0.00 MB plot (14.23 MB peak), Mdtraj 24.62 MB calc / 26.77 MB plot (42.41 MB peak), Mdanalysis 2.07 MB calc / 27.83 MB plot (27.83 MB peak).</a:t>
            </a:r>
          </a:p>
          <a:p>
            <a:pPr lvl="1">
              <a:defRPr sz="1600"/>
            </a:pPr>
            <a:r>
              <a:t>Charts on the following slides illustrate these touchpoint gaps.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