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FastMdAnalysis Benchmarks – Ubiquitin 99 (500 frames)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Runtime, memory, and usability comparisons versus MDTraj and MDAnalysis</a:t>
            </a:r>
          </a:p>
          <a:p>
            <a:r>
              <a:t>Note: third-party metrics include helper scripts for exporting data and plots.</a:t>
            </a:r>
          </a:p>
          <a:p>
            <a:r>
              <a:t>Dataset: Ubiquitin 99 (500 frames)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Overview: Dependencies, LOC, Runtime, Memory</a:t>
            </a:r>
          </a:p>
        </p:txBody>
      </p:sp>
      <p:pic>
        <p:nvPicPr>
          <p:cNvPr id="3" name="Picture 2" descr="external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268638"/>
          </a:xfrm>
          <a:prstGeom prst="rect">
            <a:avLst/>
          </a:prstGeom>
        </p:spPr>
      </p:pic>
      <p:pic>
        <p:nvPicPr>
          <p:cNvPr id="4" name="Picture 3" descr="loc_tot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tota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268638"/>
          </a:xfrm>
          <a:prstGeom prst="rect">
            <a:avLst/>
          </a:prstGeom>
        </p:spPr>
      </p:pic>
      <p:pic>
        <p:nvPicPr>
          <p:cNvPr id="6" name="Picture 5" descr="peak_mem_tota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4048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Instrumentation overview: touchpoints, modules, functions, LOC</a:t>
            </a:r>
          </a:p>
        </p:txBody>
      </p:sp>
      <p:pic>
        <p:nvPicPr>
          <p:cNvPr id="3" name="Picture 2" descr="instrumentati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323070"/>
          </a:xfrm>
          <a:prstGeom prst="rect">
            <a:avLst/>
          </a:prstGeom>
        </p:spPr>
      </p:pic>
      <p:pic>
        <p:nvPicPr>
          <p:cNvPr id="4" name="Picture 3" descr="modules_per_bench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181986"/>
          </a:xfrm>
          <a:prstGeom prst="rect">
            <a:avLst/>
          </a:prstGeom>
        </p:spPr>
      </p:pic>
      <p:pic>
        <p:nvPicPr>
          <p:cNvPr id="5" name="Picture 4" descr="functions_per_bench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1819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Ubiquitin99 500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108499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131063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1828800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196947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Ubiquitin99 500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1954443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09616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Ubiquitin99 500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515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036618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09862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Ubiquitin99 500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169763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26365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Ubiquitin99 500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193665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09894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1945954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08883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Ubiquitin99 500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048256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133600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Ubiquitin99 500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01749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18099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1956576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10602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Ubiquitin99 500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096168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151529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rchestrator_single_run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3931920" cy="2550114"/>
          </a:xfrm>
          <a:prstGeom prst="rect">
            <a:avLst/>
          </a:prstGeom>
        </p:spPr>
      </p:pic>
      <p:pic>
        <p:nvPicPr>
          <p:cNvPr id="3" name="Picture 2" descr="orchestrator_single_run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05840"/>
            <a:ext cx="3931920" cy="2486361"/>
          </a:xfrm>
          <a:prstGeom prst="rect">
            <a:avLst/>
          </a:prstGeom>
        </p:spPr>
      </p:pic>
      <p:pic>
        <p:nvPicPr>
          <p:cNvPr id="4" name="Picture 3" descr="orchestrator_single_run_analysis_break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931920" cy="2450327"/>
          </a:xfrm>
          <a:prstGeom prst="rect">
            <a:avLst/>
          </a:prstGeom>
        </p:spPr>
      </p:pic>
      <p:pic>
        <p:nvPicPr>
          <p:cNvPr id="5" name="Picture 4" descr="orchestrator_single_run_l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931920" cy="24863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Single-run vs aggregated FastMDAnalysis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Aggregated bars sum the computation, plotting, and overhead from individual analyze runs. Single-run bars reflect the orchestrated analyze(...) benchmark metrics for those same slices. Bottom-left chart breaks down runtime per analysis for the single run (slides counted as plotting).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Instrumentation Overview</a:t>
            </a:r>
          </a:p>
          <a:p>
            <a:pPr lvl="1">
              <a:defRPr sz="1600"/>
            </a:pPr>
            <a:r>
              <a:t>FastMDAnalysis: 6 modules, 11 functions, 0 external imports, 12 runs, 12 successful, 0 exceptions.</a:t>
            </a:r>
          </a:p>
          <a:p>
            <a:pPr lvl="1">
              <a:defRPr sz="1600"/>
            </a:pPr>
            <a:r>
              <a:t>Mdtraj: 4 modules, 10 functions, 3 external imports, 12 runs, 12 successful, 0 exceptions.</a:t>
            </a:r>
          </a:p>
          <a:p>
            <a:pPr lvl="1">
              <a:defRPr sz="1600"/>
            </a:pPr>
            <a:r>
              <a:t>Mdanalysis: 5 modules, 10 functions, 3 external imports, 12 runs, 12 successful, 0 exceptions.</a:t>
            </a:r>
          </a:p>
          <a:p>
            <a:pPr lvl="1">
              <a:defRPr sz="1600"/>
            </a:pPr>
            <a:r>
              <a:t>Snippet footprint overview: FastMDAnalysis 1 calc / 1 plot (2 total) lines, Mdtraj 21 calc / 28 plot (49 total) lines, Mdanalysis 38 calc / 28 plot (66 total) lines.</a:t>
            </a:r>
          </a:p>
          <a:p>
            <a:pPr lvl="1">
              <a:defRPr sz="1600"/>
            </a:pPr>
            <a:r>
              <a:t>Runtime overview: FastMDAnalysis 7.94s calc / 4.52s plot / 0.06s overhead (12.52s total), Mdtraj 0.15s calc / 4.51s plot / 0.10s overhead (4.76s total), Mdanalysis 5.32s calc / 4.73s plot / 0.01s overhead (10.05s total).</a:t>
            </a:r>
          </a:p>
          <a:p>
            <a:pPr lvl="1">
              <a:defRPr sz="1200" i="1"/>
            </a:pPr>
            <a:r>
              <a:t>Note: FastMDAnalysis shows single-line analyze() orchestrator with integrated file I/O. Calc/plot split estimated using 17.5%/82.5% ratio from individual benchmarks. Other tools show aggregate with file I/O separated. Memory includes all analyses running together.</a:t>
            </a:r>
          </a:p>
          <a:p>
            <a:pPr lvl="1">
              <a:defRPr sz="1600"/>
            </a:pPr>
            <a:r>
              <a:t>Peak memory overview: FastMDAnalysis 13.76 MB calc / 0.00 MB plot (13.76 MB peak), Mdtraj 24.61 MB calc / 26.69 MB plot (42.32 MB peak), Mdanalysis 2.07 MB calc / 28.29 MB plot (28.29 MB peak).</a:t>
            </a:r>
          </a:p>
          <a:p>
            <a:pPr lvl="1">
              <a:defRPr sz="1600"/>
            </a:pPr>
            <a:r>
              <a:t>Charts on the following slides illustrate these touchpoint gaps.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