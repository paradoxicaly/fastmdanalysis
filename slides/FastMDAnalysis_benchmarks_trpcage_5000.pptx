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24.png"/><Relationship Id="rId5" Type="http://schemas.openxmlformats.org/officeDocument/2006/relationships/image" Target="../media/image2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image" Target="../media/image3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Relationship Id="rId4" Type="http://schemas.openxmlformats.org/officeDocument/2006/relationships/image" Target="../media/image3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FastMdAnalysis Benchmarks – Trp-cage 5000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Runtime, memory, and usability comparisons versus MDTraj and MDAnalysis</a:t>
            </a:r>
          </a:p>
          <a:p>
            <a:r>
              <a:t>Note: third-party metrics include helper scripts for exporting data and plots.</a:t>
            </a:r>
          </a:p>
          <a:p>
            <a:r>
              <a:t>Dataset: Trp-cage 5000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400"/>
              <a:t>Overview: Dependencies, LOC, Runtime, Memory</a:t>
            </a:r>
          </a:p>
        </p:txBody>
      </p:sp>
      <p:pic>
        <p:nvPicPr>
          <p:cNvPr id="3" name="Picture 2" descr="external_modu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3657600" cy="2268638"/>
          </a:xfrm>
          <a:prstGeom prst="rect">
            <a:avLst/>
          </a:prstGeom>
        </p:spPr>
      </p:pic>
      <p:pic>
        <p:nvPicPr>
          <p:cNvPr id="4" name="Picture 3" descr="loc_total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914400"/>
            <a:ext cx="3657600" cy="2268638"/>
          </a:xfrm>
          <a:prstGeom prst="rect">
            <a:avLst/>
          </a:prstGeom>
        </p:spPr>
      </p:pic>
      <p:pic>
        <p:nvPicPr>
          <p:cNvPr id="5" name="Picture 4" descr="runtime_total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840480"/>
            <a:ext cx="3657600" cy="2268638"/>
          </a:xfrm>
          <a:prstGeom prst="rect">
            <a:avLst/>
          </a:prstGeom>
        </p:spPr>
      </p:pic>
      <p:pic>
        <p:nvPicPr>
          <p:cNvPr id="6" name="Picture 5" descr="peak_mem_total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3840480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400"/>
              <a:t>Instrumentation overview: touchpoints, modules, functions, LOC</a:t>
            </a:r>
          </a:p>
        </p:txBody>
      </p:sp>
      <p:pic>
        <p:nvPicPr>
          <p:cNvPr id="3" name="Picture 2" descr="instrumentation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3657600" cy="2323070"/>
          </a:xfrm>
          <a:prstGeom prst="rect">
            <a:avLst/>
          </a:prstGeom>
        </p:spPr>
      </p:pic>
      <p:pic>
        <p:nvPicPr>
          <p:cNvPr id="4" name="Picture 3" descr="modules_per_bench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914400"/>
            <a:ext cx="3657600" cy="2181986"/>
          </a:xfrm>
          <a:prstGeom prst="rect">
            <a:avLst/>
          </a:prstGeom>
        </p:spPr>
      </p:pic>
      <p:pic>
        <p:nvPicPr>
          <p:cNvPr id="5" name="Picture 4" descr="functions_per_benchm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840480"/>
            <a:ext cx="3657600" cy="218198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Cluster Trpcage 5000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2296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/>
            </a:pPr>
            <a:r>
              <a:t>Note: MDTraj and MDAnalysis metrics include helper scripts we wrote to save data files and plots; their APIs do not emit those artifacts automatically.</a:t>
            </a:r>
          </a:p>
        </p:txBody>
      </p:sp>
      <p:pic>
        <p:nvPicPr>
          <p:cNvPr id="4" name="Picture 3" descr="runtim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3657600" cy="2268638"/>
          </a:xfrm>
          <a:prstGeom prst="rect">
            <a:avLst/>
          </a:prstGeom>
        </p:spPr>
      </p:pic>
      <p:pic>
        <p:nvPicPr>
          <p:cNvPr id="5" name="Picture 4" descr="runtime_summary_spl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828800"/>
            <a:ext cx="3657600" cy="2268638"/>
          </a:xfrm>
          <a:prstGeom prst="rect">
            <a:avLst/>
          </a:prstGeom>
        </p:spPr>
      </p:pic>
      <p:pic>
        <p:nvPicPr>
          <p:cNvPr id="6" name="Picture 5" descr="runtime_summary_split_a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480560"/>
            <a:ext cx="3657600" cy="2154115"/>
          </a:xfrm>
          <a:prstGeom prst="rect">
            <a:avLst/>
          </a:prstGeom>
        </p:spPr>
      </p:pic>
      <p:pic>
        <p:nvPicPr>
          <p:cNvPr id="7" name="Picture 6" descr="memory_summar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4480560"/>
            <a:ext cx="3657600" cy="220174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Cluster Trpcage 5000 (continued)</a:t>
            </a:r>
          </a:p>
        </p:txBody>
      </p:sp>
      <p:pic>
        <p:nvPicPr>
          <p:cNvPr id="3" name="Picture 2" descr="memory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3657600" cy="2220848"/>
          </a:xfrm>
          <a:prstGeom prst="rect">
            <a:avLst/>
          </a:prstGeom>
        </p:spPr>
      </p:pic>
      <p:pic>
        <p:nvPicPr>
          <p:cNvPr id="4" name="Picture 3" descr="runtime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097280"/>
            <a:ext cx="3657600" cy="2268638"/>
          </a:xfrm>
          <a:prstGeom prst="rect">
            <a:avLst/>
          </a:prstGeom>
        </p:spPr>
      </p:pic>
      <p:pic>
        <p:nvPicPr>
          <p:cNvPr id="5" name="Picture 4" descr="loc_summa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749039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Rg Trpcage 5000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2296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/>
            </a:pPr>
            <a:r>
              <a:t>Note: MDTraj and MDAnalysis metrics include helper scripts we wrote to save data files and plots; their APIs do not emit those artifacts automatically.</a:t>
            </a:r>
          </a:p>
        </p:txBody>
      </p:sp>
      <p:pic>
        <p:nvPicPr>
          <p:cNvPr id="4" name="Picture 3" descr="runtim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3657600" cy="2268638"/>
          </a:xfrm>
          <a:prstGeom prst="rect">
            <a:avLst/>
          </a:prstGeom>
        </p:spPr>
      </p:pic>
      <p:pic>
        <p:nvPicPr>
          <p:cNvPr id="5" name="Picture 4" descr="runtime_summary_spl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828800"/>
            <a:ext cx="3657600" cy="2268638"/>
          </a:xfrm>
          <a:prstGeom prst="rect">
            <a:avLst/>
          </a:prstGeom>
        </p:spPr>
      </p:pic>
      <p:pic>
        <p:nvPicPr>
          <p:cNvPr id="6" name="Picture 5" descr="runtime_summary_split_a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480560"/>
            <a:ext cx="3657600" cy="2268638"/>
          </a:xfrm>
          <a:prstGeom prst="rect">
            <a:avLst/>
          </a:prstGeom>
        </p:spPr>
      </p:pic>
      <p:pic>
        <p:nvPicPr>
          <p:cNvPr id="7" name="Picture 6" descr="memory_summar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4480560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Rg Trpcage 5000 (continued)</a:t>
            </a:r>
          </a:p>
        </p:txBody>
      </p:sp>
      <p:pic>
        <p:nvPicPr>
          <p:cNvPr id="3" name="Picture 2" descr="memory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3657600" cy="2209894"/>
          </a:xfrm>
          <a:prstGeom prst="rect">
            <a:avLst/>
          </a:prstGeom>
        </p:spPr>
      </p:pic>
      <p:pic>
        <p:nvPicPr>
          <p:cNvPr id="4" name="Picture 3" descr="runtime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097280"/>
            <a:ext cx="3657600" cy="2229134"/>
          </a:xfrm>
          <a:prstGeom prst="rect">
            <a:avLst/>
          </a:prstGeom>
        </p:spPr>
      </p:pic>
      <p:pic>
        <p:nvPicPr>
          <p:cNvPr id="5" name="Picture 4" descr="loc_summa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749039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Rmsd Trpcage 5000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2296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/>
            </a:pPr>
            <a:r>
              <a:t>Note: MDTraj and MDAnalysis metrics include helper scripts we wrote to save data files and plots; their APIs do not emit those artifacts automatically.</a:t>
            </a:r>
          </a:p>
        </p:txBody>
      </p:sp>
      <p:pic>
        <p:nvPicPr>
          <p:cNvPr id="4" name="Picture 3" descr="runtim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3657600" cy="2268638"/>
          </a:xfrm>
          <a:prstGeom prst="rect">
            <a:avLst/>
          </a:prstGeom>
        </p:spPr>
      </p:pic>
      <p:pic>
        <p:nvPicPr>
          <p:cNvPr id="5" name="Picture 4" descr="runtime_summary_spl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828800"/>
            <a:ext cx="3657600" cy="2268638"/>
          </a:xfrm>
          <a:prstGeom prst="rect">
            <a:avLst/>
          </a:prstGeom>
        </p:spPr>
      </p:pic>
      <p:pic>
        <p:nvPicPr>
          <p:cNvPr id="6" name="Picture 5" descr="runtime_summary_split_a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480560"/>
            <a:ext cx="3657600" cy="2234693"/>
          </a:xfrm>
          <a:prstGeom prst="rect">
            <a:avLst/>
          </a:prstGeom>
        </p:spPr>
      </p:pic>
      <p:pic>
        <p:nvPicPr>
          <p:cNvPr id="7" name="Picture 6" descr="memory_summar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4480560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Rmsd Trpcage 5000 (continued)</a:t>
            </a:r>
          </a:p>
        </p:txBody>
      </p:sp>
      <p:pic>
        <p:nvPicPr>
          <p:cNvPr id="3" name="Picture 2" descr="memory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3657600" cy="2312547"/>
          </a:xfrm>
          <a:prstGeom prst="rect">
            <a:avLst/>
          </a:prstGeom>
        </p:spPr>
      </p:pic>
      <p:pic>
        <p:nvPicPr>
          <p:cNvPr id="4" name="Picture 3" descr="runtime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097280"/>
            <a:ext cx="3657600" cy="2268638"/>
          </a:xfrm>
          <a:prstGeom prst="rect">
            <a:avLst/>
          </a:prstGeom>
        </p:spPr>
      </p:pic>
      <p:pic>
        <p:nvPicPr>
          <p:cNvPr id="5" name="Picture 4" descr="loc_summa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749039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Rmsf Trpcage 5000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2296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/>
            </a:pPr>
            <a:r>
              <a:t>Note: MDTraj and MDAnalysis metrics include helper scripts we wrote to save data files and plots; their APIs do not emit those artifacts automatically.</a:t>
            </a:r>
          </a:p>
        </p:txBody>
      </p:sp>
      <p:pic>
        <p:nvPicPr>
          <p:cNvPr id="4" name="Picture 3" descr="runtim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3657600" cy="2268638"/>
          </a:xfrm>
          <a:prstGeom prst="rect">
            <a:avLst/>
          </a:prstGeom>
        </p:spPr>
      </p:pic>
      <p:pic>
        <p:nvPicPr>
          <p:cNvPr id="5" name="Picture 4" descr="runtime_summary_spl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828800"/>
            <a:ext cx="3657600" cy="2268638"/>
          </a:xfrm>
          <a:prstGeom prst="rect">
            <a:avLst/>
          </a:prstGeom>
        </p:spPr>
      </p:pic>
      <p:pic>
        <p:nvPicPr>
          <p:cNvPr id="6" name="Picture 5" descr="runtime_summary_split_a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480560"/>
            <a:ext cx="3657600" cy="2243084"/>
          </a:xfrm>
          <a:prstGeom prst="rect">
            <a:avLst/>
          </a:prstGeom>
        </p:spPr>
      </p:pic>
      <p:pic>
        <p:nvPicPr>
          <p:cNvPr id="7" name="Picture 6" descr="memory_summar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4480560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Rmsf Trpcage 5000 (continued)</a:t>
            </a:r>
          </a:p>
        </p:txBody>
      </p:sp>
      <p:pic>
        <p:nvPicPr>
          <p:cNvPr id="3" name="Picture 2" descr="memory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3657600" cy="2268638"/>
          </a:xfrm>
          <a:prstGeom prst="rect">
            <a:avLst/>
          </a:prstGeom>
        </p:spPr>
      </p:pic>
      <p:pic>
        <p:nvPicPr>
          <p:cNvPr id="4" name="Picture 3" descr="runtime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097280"/>
            <a:ext cx="3657600" cy="2229134"/>
          </a:xfrm>
          <a:prstGeom prst="rect">
            <a:avLst/>
          </a:prstGeom>
        </p:spPr>
      </p:pic>
      <p:pic>
        <p:nvPicPr>
          <p:cNvPr id="5" name="Picture 4" descr="loc_summa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749039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594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Instrumentation Overview</a:t>
            </a:r>
          </a:p>
          <a:p>
            <a:pPr lvl="1">
              <a:defRPr sz="1600"/>
            </a:pPr>
            <a:r>
              <a:t>FastMDAnalysis: 6 modules, 11 functions, 0 external imports, 35 runs, 35 successful, 0 exceptions.</a:t>
            </a:r>
          </a:p>
          <a:p>
            <a:pPr lvl="1">
              <a:defRPr sz="1600"/>
            </a:pPr>
            <a:r>
              <a:t>Mdtraj: 4 modules, 10 functions, 3 external imports, 35 runs, 35 successful, 0 exceptions.</a:t>
            </a:r>
          </a:p>
          <a:p>
            <a:pPr lvl="1">
              <a:defRPr sz="1600"/>
            </a:pPr>
            <a:r>
              <a:t>Mdanalysis: 5 modules, 10 functions, 3 external imports, 35 runs, 35 successful, 0 exceptions.</a:t>
            </a:r>
          </a:p>
          <a:p>
            <a:pPr lvl="1">
              <a:defRPr sz="1600"/>
            </a:pPr>
            <a:r>
              <a:t>Snippet footprint overview: FastMDAnalysis 4 calc / 4 plot (8 total) lines, Mdtraj 21 calc / 28 plot (49 total) lines, Mdanalysis 38 calc / 28 plot (66 total) lines.</a:t>
            </a:r>
          </a:p>
          <a:p>
            <a:pPr lvl="1">
              <a:defRPr sz="1600"/>
            </a:pPr>
            <a:r>
              <a:t>Runtime overview: FastMDAnalysis 0.23s calc / 2.51s plot / 0.09s overhead (2.83s total), Mdtraj 0.04s calc / 2.49s plot / 0.08s overhead (2.61s total), Mdanalysis 4.12s calc / 2.78s plot / 0.01s overhead (6.90s total).</a:t>
            </a:r>
          </a:p>
          <a:p>
            <a:pPr lvl="1">
              <a:defRPr sz="1200" i="1"/>
            </a:pPr>
            <a:r>
              <a:t>Note: FastMDAnalysis shows single-line analyze() orchestrator with integrated file I/O. Calc/plot split estimated using 17.5%/82.5% ratio from individual benchmarks. Other tools show aggregate with file I/O separated. Memory includes all analyses running together.</a:t>
            </a:r>
          </a:p>
          <a:p>
            <a:pPr lvl="1">
              <a:defRPr sz="1600"/>
            </a:pPr>
            <a:r>
              <a:t>Peak memory overview: FastMDAnalysis 9.30 MB calc / 16.82 MB plot (20.06 MB peak), Mdtraj 6.39 MB calc / 17.44 MB plot (20.71 MB peak), Mdanalysis 1.30 MB calc / 18.77 MB plot (18.77 MB peak).</a:t>
            </a:r>
          </a:p>
          <a:p>
            <a:pPr lvl="1">
              <a:defRPr sz="1600"/>
            </a:pPr>
            <a:r>
              <a:t>Charts on the following slides illustrate these touchpoint gaps.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