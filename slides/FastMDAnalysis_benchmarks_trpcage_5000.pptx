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Benchmarks – Trp-cage 5000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Runtime, memory, and usability comparisons versus MDTraj and MDAnalysis</a:t>
            </a:r>
          </a:p>
          <a:p>
            <a:r>
              <a:t>Note: third-party metrics include helper scripts for exporting data and plots.</a:t>
            </a:r>
          </a:p>
          <a:p>
            <a:r>
              <a:t>Dataset: Trp-cage 5000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Overview: Dependencies, LOC, Runtime, Memory</a:t>
            </a:r>
          </a:p>
        </p:txBody>
      </p:sp>
      <p:pic>
        <p:nvPicPr>
          <p:cNvPr id="3" name="Picture 2" descr="external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268638"/>
          </a:xfrm>
          <a:prstGeom prst="rect">
            <a:avLst/>
          </a:prstGeom>
        </p:spPr>
      </p:pic>
      <p:pic>
        <p:nvPicPr>
          <p:cNvPr id="4" name="Picture 3" descr="loc_to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to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268638"/>
          </a:xfrm>
          <a:prstGeom prst="rect">
            <a:avLst/>
          </a:prstGeom>
        </p:spPr>
      </p:pic>
      <p:pic>
        <p:nvPicPr>
          <p:cNvPr id="6" name="Picture 5" descr="peak_mem_tot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Instrumentation overview: touchpoints, modules, functions, LOC</a:t>
            </a:r>
          </a:p>
        </p:txBody>
      </p:sp>
      <p:pic>
        <p:nvPicPr>
          <p:cNvPr id="3" name="Picture 2" descr="instrument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323070"/>
          </a:xfrm>
          <a:prstGeom prst="rect">
            <a:avLst/>
          </a:prstGeom>
        </p:spPr>
      </p:pic>
      <p:pic>
        <p:nvPicPr>
          <p:cNvPr id="4" name="Picture 3" descr="modules_per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181986"/>
          </a:xfrm>
          <a:prstGeom prst="rect">
            <a:avLst/>
          </a:prstGeom>
        </p:spPr>
      </p:pic>
      <p:pic>
        <p:nvPicPr>
          <p:cNvPr id="5" name="Picture 4" descr="functions_per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181986"/>
          </a:xfrm>
          <a:prstGeom prst="rect">
            <a:avLst/>
          </a:prstGeom>
        </p:spPr>
      </p:pic>
      <p:pic>
        <p:nvPicPr>
          <p:cNvPr id="6" name="Picture 5" descr="orchestrator_loc_advan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1787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Trpcage 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154115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017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Trpcage 5000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2084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Trpcage 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863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Trpcage 5000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09894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29134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Trpcage 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34693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Trpcage 5000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312547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Trpcage 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43084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Trpcage 5000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09894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29134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chestrator_single_run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3931920" cy="2490023"/>
          </a:xfrm>
          <a:prstGeom prst="rect">
            <a:avLst/>
          </a:prstGeom>
        </p:spPr>
      </p:pic>
      <p:pic>
        <p:nvPicPr>
          <p:cNvPr id="3" name="Picture 2" descr="orchestrator_single_run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3931920" cy="2486361"/>
          </a:xfrm>
          <a:prstGeom prst="rect">
            <a:avLst/>
          </a:prstGeom>
        </p:spPr>
      </p:pic>
      <p:pic>
        <p:nvPicPr>
          <p:cNvPr id="4" name="Picture 3" descr="orchestrator_single_run_analysis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931920" cy="2450327"/>
          </a:xfrm>
          <a:prstGeom prst="rect">
            <a:avLst/>
          </a:prstGeom>
        </p:spPr>
      </p:pic>
      <p:pic>
        <p:nvPicPr>
          <p:cNvPr id="5" name="Picture 4" descr="orchestrator_single_run_l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931920" cy="24863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Single-run vs aggregated FastMDAnalysis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Aggregated bars sum the computation, plotting, and overhead from individual analyze runs. Single-run bars reflect the orchestrated analyze(...) benchmark metrics for those same slices. Bottom-left chart breaks down runtime per analysis for the single run (slides counted as plotting).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Instrumentation Overview</a:t>
            </a:r>
          </a:p>
          <a:p>
            <a:pPr lvl="1">
              <a:defRPr sz="1600"/>
            </a:pPr>
            <a:r>
              <a:t>FastMDAnalysis: 6 modules, 11 functions, 0 external imports, 35 runs, 35 successful, 0 exceptions.</a:t>
            </a:r>
          </a:p>
          <a:p>
            <a:pPr lvl="1">
              <a:defRPr sz="1600"/>
            </a:pPr>
            <a:r>
              <a:t>Mdtraj: 4 modules, 10 functions, 3 external imports, 35 runs, 35 successful, 0 exceptions.</a:t>
            </a:r>
          </a:p>
          <a:p>
            <a:pPr lvl="1">
              <a:defRPr sz="1600"/>
            </a:pPr>
            <a:r>
              <a:t>Mdanalysis: 5 modules, 10 functions, 3 external imports, 35 runs, 35 successful, 0 exceptions.</a:t>
            </a:r>
          </a:p>
          <a:p>
            <a:pPr lvl="1">
              <a:defRPr sz="1600"/>
            </a:pPr>
            <a:r>
              <a:t>Snippet footprint overview: FastMDAnalysis 1 calc / 1 plot (2 total) lines, Mdtraj 21 calc / 28 plot (49 total) lines, Mdanalysis 38 calc / 28 plot (66 total) lines.</a:t>
            </a:r>
          </a:p>
          <a:p>
            <a:pPr lvl="1">
              <a:defRPr sz="1600"/>
            </a:pPr>
            <a:r>
              <a:t>Runtime overview: FastMDAnalysis 1.04s calc / 4.91s plot (5.95s total), Mdtraj 0.04s calc / 2.53s plot / 0.08s overhead (2.65s total), Mdanalysis 4.16s calc / 2.78s plot / 0.01s overhead (6.95s total).</a:t>
            </a:r>
          </a:p>
          <a:p>
            <a:pPr lvl="1">
              <a:defRPr sz="1200" i="1"/>
            </a:pPr>
            <a:r>
              <a:t>Note: FastMDAnalysis timing uses single-line analyze() orchestrator approach. Calc/plot split is estimated using empirically measured ratio from individual benchmarks (17.5% computation, 82.5% plotting/saving), reflecting that matplotlib plotting and data file I/O are relatively expensive operations.</a:t>
            </a:r>
          </a:p>
          <a:p>
            <a:pPr lvl="1">
              <a:defRPr sz="1600"/>
            </a:pPr>
            <a:r>
              <a:t>Peak memory overview: FastMDAnalysis 67.40 MB calc / 0.00 MB plot (67.40 MB peak), Mdtraj 6.28 MB calc / 17.20 MB plot (20.48 MB peak), Mdanalysis 1.30 MB calc / 19.19 MB plot (19.19 MB peak).</a:t>
            </a:r>
          </a:p>
          <a:p>
            <a:pPr lvl="1">
              <a:defRPr sz="1600"/>
            </a:pPr>
            <a:r>
              <a:t>Charts on the following slides illustrate these touchpoint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