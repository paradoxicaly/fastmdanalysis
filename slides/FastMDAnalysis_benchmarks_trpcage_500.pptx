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Relationship Id="rId4" Type="http://schemas.openxmlformats.org/officeDocument/2006/relationships/image" Target="../media/image3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png"/><Relationship Id="rId4" Type="http://schemas.openxmlformats.org/officeDocument/2006/relationships/image" Target="../media/image39.png"/><Relationship Id="rId5" Type="http://schemas.openxmlformats.org/officeDocument/2006/relationships/image" Target="../media/image4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FastMdAnalysis Benchmarks – Trp-cage 500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Runtime, memory, and usability comparisons versus MDTraj and MDAnalysis</a:t>
            </a:r>
          </a:p>
          <a:p>
            <a:r>
              <a:t>Note: third-party metrics include helper scripts for exporting data and plots.</a:t>
            </a:r>
          </a:p>
          <a:p>
            <a:r>
              <a:t>Dataset: Trp-cage 500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400"/>
              <a:t>Overview: Dependencies, LOC, Runtime, Memory</a:t>
            </a:r>
          </a:p>
        </p:txBody>
      </p:sp>
      <p:pic>
        <p:nvPicPr>
          <p:cNvPr id="3" name="Picture 2" descr="external_modu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3657600" cy="2268638"/>
          </a:xfrm>
          <a:prstGeom prst="rect">
            <a:avLst/>
          </a:prstGeom>
        </p:spPr>
      </p:pic>
      <p:pic>
        <p:nvPicPr>
          <p:cNvPr id="4" name="Picture 3" descr="loc_tota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914400"/>
            <a:ext cx="3657600" cy="2268638"/>
          </a:xfrm>
          <a:prstGeom prst="rect">
            <a:avLst/>
          </a:prstGeom>
        </p:spPr>
      </p:pic>
      <p:pic>
        <p:nvPicPr>
          <p:cNvPr id="5" name="Picture 4" descr="runtime_total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840480"/>
            <a:ext cx="3657600" cy="2268638"/>
          </a:xfrm>
          <a:prstGeom prst="rect">
            <a:avLst/>
          </a:prstGeom>
        </p:spPr>
      </p:pic>
      <p:pic>
        <p:nvPicPr>
          <p:cNvPr id="6" name="Picture 5" descr="peak_mem_total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3840480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400"/>
              <a:t>Instrumentation overview: touchpoints, modules, functions, LOC</a:t>
            </a:r>
          </a:p>
        </p:txBody>
      </p:sp>
      <p:pic>
        <p:nvPicPr>
          <p:cNvPr id="3" name="Picture 2" descr="instrumentation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3657600" cy="2323070"/>
          </a:xfrm>
          <a:prstGeom prst="rect">
            <a:avLst/>
          </a:prstGeom>
        </p:spPr>
      </p:pic>
      <p:pic>
        <p:nvPicPr>
          <p:cNvPr id="4" name="Picture 3" descr="modules_per_bench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914400"/>
            <a:ext cx="3657600" cy="2181986"/>
          </a:xfrm>
          <a:prstGeom prst="rect">
            <a:avLst/>
          </a:prstGeom>
        </p:spPr>
      </p:pic>
      <p:pic>
        <p:nvPicPr>
          <p:cNvPr id="5" name="Picture 4" descr="functions_per_benchm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840480"/>
            <a:ext cx="3657600" cy="2181986"/>
          </a:xfrm>
          <a:prstGeom prst="rect">
            <a:avLst/>
          </a:prstGeom>
        </p:spPr>
      </p:pic>
      <p:pic>
        <p:nvPicPr>
          <p:cNvPr id="6" name="Picture 5" descr="orchestrator_loc_advant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3840480"/>
            <a:ext cx="3657600" cy="178728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Cluster Trpcage 500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268638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268638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2177672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222636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Cluster Trpcage 500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2245895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268638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Rg Trpcage 500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268638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268638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2268638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Rg Trpcage 500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2209894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229134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Rmsd Trpcage 500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268638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268638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2260055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Rmsd Trpcage 500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2312547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268638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Rmsf Trpcage 500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268638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268638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2265770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Rmsf Trpcage 500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2209894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229134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rchestrator_single_run_run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3931920" cy="2490023"/>
          </a:xfrm>
          <a:prstGeom prst="rect">
            <a:avLst/>
          </a:prstGeom>
        </p:spPr>
      </p:pic>
      <p:pic>
        <p:nvPicPr>
          <p:cNvPr id="3" name="Picture 2" descr="orchestrator_single_run_mem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05840"/>
            <a:ext cx="3931920" cy="2486361"/>
          </a:xfrm>
          <a:prstGeom prst="rect">
            <a:avLst/>
          </a:prstGeom>
        </p:spPr>
      </p:pic>
      <p:pic>
        <p:nvPicPr>
          <p:cNvPr id="4" name="Picture 3" descr="orchestrator_single_run_analysis_breakdow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931920" cy="2450327"/>
          </a:xfrm>
          <a:prstGeom prst="rect">
            <a:avLst/>
          </a:prstGeom>
        </p:spPr>
      </p:pic>
      <p:pic>
        <p:nvPicPr>
          <p:cNvPr id="5" name="Picture 4" descr="orchestrator_single_run_lo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931920" cy="248636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Single-run vs aggregated FastMDAnalysis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Aggregated bars sum the computation, plotting, and overhead from individual analyze runs. Single-run bars reflect the orchestrated analyze(...) benchmark metrics for those same slices. Bottom-left chart breaks down runtime per analysis for the single run (slides counted as plotting).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Instrumentation Overview</a:t>
            </a:r>
          </a:p>
          <a:p>
            <a:pPr lvl="1">
              <a:defRPr sz="1600"/>
            </a:pPr>
            <a:r>
              <a:t>FastMDAnalysis: 6 modules, 11 functions, 0 external imports, 35 runs, 35 successful, 0 exceptions.</a:t>
            </a:r>
          </a:p>
          <a:p>
            <a:pPr lvl="1">
              <a:defRPr sz="1600"/>
            </a:pPr>
            <a:r>
              <a:t>Mdtraj: 4 modules, 10 functions, 3 external imports, 35 runs, 35 successful, 0 exceptions.</a:t>
            </a:r>
          </a:p>
          <a:p>
            <a:pPr lvl="1">
              <a:defRPr sz="1600"/>
            </a:pPr>
            <a:r>
              <a:t>Mdanalysis: 5 modules, 10 functions, 3 external imports, 35 runs, 35 successful, 0 exceptions.</a:t>
            </a:r>
          </a:p>
          <a:p>
            <a:pPr lvl="1">
              <a:defRPr sz="1600"/>
            </a:pPr>
            <a:r>
              <a:t>Snippet footprint overview: FastMDAnalysis 1 calc / 1 plot (2 total) lines, Mdtraj 21 calc / 28 plot (49 total) lines, Mdanalysis 38 calc / 28 plot (66 total) lines.</a:t>
            </a:r>
          </a:p>
          <a:p>
            <a:pPr lvl="1">
              <a:defRPr sz="1600"/>
            </a:pPr>
            <a:r>
              <a:t>Runtime overview: FastMDAnalysis 0.22s calc / 2.47s plot / 0.09s overhead (2.78s total), Mdtraj 0.04s calc / 2.46s plot / 0.08s overhead (2.58s total), Mdanalysis 4.10s calc / 2.72s plot / 0.01s overhead (6.82s total).</a:t>
            </a:r>
          </a:p>
          <a:p>
            <a:pPr lvl="1">
              <a:defRPr sz="1200" i="1"/>
            </a:pPr>
            <a:r>
              <a:t>Note: FastMDAnalysis metrics show aggregate of 4 separate analysis calls (rmsd, rmsf, rg, cluster) for fair comparison with other tools. The orchestrator analyze() approach is shown separately in LOC comparison charts.</a:t>
            </a:r>
          </a:p>
          <a:p>
            <a:pPr lvl="1">
              <a:defRPr sz="1600"/>
            </a:pPr>
            <a:r>
              <a:t>Peak memory overview: FastMDAnalysis 9.30 MB calc / 16.83 MB plot (20.07 MB peak), Mdtraj 6.39 MB calc / 17.43 MB plot (20.71 MB peak), Mdanalysis 1.30 MB calc / 18.76 MB plot (18.76 MB peak).</a:t>
            </a:r>
          </a:p>
          <a:p>
            <a:pPr lvl="1">
              <a:defRPr sz="1600"/>
            </a:pPr>
            <a:r>
              <a:t>Charts on the following slides illustrate these touchpoint gaps.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