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FastMdAnalysis Benchmarks – Trp-cage 500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Runtime, memory, and usability comparisons versus MDTraj and MDAnalysis</a:t>
            </a:r>
          </a:p>
          <a:p>
            <a:r>
              <a:t>Note: third-party metrics include helper scripts for exporting data and plots.</a:t>
            </a:r>
          </a:p>
          <a:p>
            <a:r>
              <a:t>Dataset: Trp-cage 500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/>
              <a:t>Overview: Dependencies, LOC, Runtime, Memory</a:t>
            </a:r>
          </a:p>
        </p:txBody>
      </p:sp>
      <p:pic>
        <p:nvPicPr>
          <p:cNvPr id="3" name="Picture 2" descr="external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657600" cy="2268638"/>
          </a:xfrm>
          <a:prstGeom prst="rect">
            <a:avLst/>
          </a:prstGeom>
        </p:spPr>
      </p:pic>
      <p:pic>
        <p:nvPicPr>
          <p:cNvPr id="4" name="Picture 3" descr="loc_tot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3657600" cy="2268638"/>
          </a:xfrm>
          <a:prstGeom prst="rect">
            <a:avLst/>
          </a:prstGeom>
        </p:spPr>
      </p:pic>
      <p:pic>
        <p:nvPicPr>
          <p:cNvPr id="5" name="Picture 4" descr="runtime_tota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3657600" cy="2268638"/>
          </a:xfrm>
          <a:prstGeom prst="rect">
            <a:avLst/>
          </a:prstGeom>
        </p:spPr>
      </p:pic>
      <p:pic>
        <p:nvPicPr>
          <p:cNvPr id="6" name="Picture 5" descr="peak_mem_tota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840480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/>
              <a:t>Instrumentation overview: touchpoints, modules, functions, LOC</a:t>
            </a:r>
          </a:p>
        </p:txBody>
      </p:sp>
      <p:pic>
        <p:nvPicPr>
          <p:cNvPr id="3" name="Picture 2" descr="instrumentatio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657600" cy="2323070"/>
          </a:xfrm>
          <a:prstGeom prst="rect">
            <a:avLst/>
          </a:prstGeom>
        </p:spPr>
      </p:pic>
      <p:pic>
        <p:nvPicPr>
          <p:cNvPr id="4" name="Picture 3" descr="modules_per_bench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3657600" cy="2181986"/>
          </a:xfrm>
          <a:prstGeom prst="rect">
            <a:avLst/>
          </a:prstGeom>
        </p:spPr>
      </p:pic>
      <p:pic>
        <p:nvPicPr>
          <p:cNvPr id="5" name="Picture 4" descr="functions_per_bench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3657600" cy="2181986"/>
          </a:xfrm>
          <a:prstGeom prst="rect">
            <a:avLst/>
          </a:prstGeom>
        </p:spPr>
      </p:pic>
      <p:pic>
        <p:nvPicPr>
          <p:cNvPr id="6" name="Picture 5" descr="orchestrator_loc_advant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840480"/>
            <a:ext cx="3657600" cy="17872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Cluster Trpcage 500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Note: MDTraj and MDAnalysis metrics include helper scripts we wrote to save data files and plots; their APIs do not emit those artifacts automatically.</a:t>
            </a:r>
          </a:p>
        </p:txBody>
      </p:sp>
      <p:pic>
        <p:nvPicPr>
          <p:cNvPr id="4" name="Picture 3" descr="runtim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268638"/>
          </a:xfrm>
          <a:prstGeom prst="rect">
            <a:avLst/>
          </a:prstGeom>
        </p:spPr>
      </p:pic>
      <p:pic>
        <p:nvPicPr>
          <p:cNvPr id="5" name="Picture 4" descr="runtime_summary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268638"/>
          </a:xfrm>
          <a:prstGeom prst="rect">
            <a:avLst/>
          </a:prstGeom>
        </p:spPr>
      </p:pic>
      <p:pic>
        <p:nvPicPr>
          <p:cNvPr id="6" name="Picture 5" descr="runtime_summary_split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657600" cy="2177672"/>
          </a:xfrm>
          <a:prstGeom prst="rect">
            <a:avLst/>
          </a:prstGeom>
        </p:spPr>
      </p:pic>
      <p:pic>
        <p:nvPicPr>
          <p:cNvPr id="7" name="Picture 6" descr="memory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657600" cy="22263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Cluster Trpcage 500 (continued)</a:t>
            </a:r>
          </a:p>
        </p:txBody>
      </p:sp>
      <p:pic>
        <p:nvPicPr>
          <p:cNvPr id="3" name="Picture 2" descr="mem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2245895"/>
          </a:xfrm>
          <a:prstGeom prst="rect">
            <a:avLst/>
          </a:prstGeom>
        </p:spPr>
      </p:pic>
      <p:pic>
        <p:nvPicPr>
          <p:cNvPr id="4" name="Picture 3" descr="runtim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3657600" cy="2268638"/>
          </a:xfrm>
          <a:prstGeom prst="rect">
            <a:avLst/>
          </a:prstGeom>
        </p:spPr>
      </p:pic>
      <p:pic>
        <p:nvPicPr>
          <p:cNvPr id="5" name="Picture 4" descr="loc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Rg Trpcage 500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Note: MDTraj and MDAnalysis metrics include helper scripts we wrote to save data files and plots; their APIs do not emit those artifacts automatically.</a:t>
            </a:r>
          </a:p>
        </p:txBody>
      </p:sp>
      <p:pic>
        <p:nvPicPr>
          <p:cNvPr id="4" name="Picture 3" descr="runtim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268638"/>
          </a:xfrm>
          <a:prstGeom prst="rect">
            <a:avLst/>
          </a:prstGeom>
        </p:spPr>
      </p:pic>
      <p:pic>
        <p:nvPicPr>
          <p:cNvPr id="5" name="Picture 4" descr="runtime_summary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268638"/>
          </a:xfrm>
          <a:prstGeom prst="rect">
            <a:avLst/>
          </a:prstGeom>
        </p:spPr>
      </p:pic>
      <p:pic>
        <p:nvPicPr>
          <p:cNvPr id="6" name="Picture 5" descr="runtime_summary_split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657600" cy="2268638"/>
          </a:xfrm>
          <a:prstGeom prst="rect">
            <a:avLst/>
          </a:prstGeom>
        </p:spPr>
      </p:pic>
      <p:pic>
        <p:nvPicPr>
          <p:cNvPr id="7" name="Picture 6" descr="memory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Rg Trpcage 500 (continued)</a:t>
            </a:r>
          </a:p>
        </p:txBody>
      </p:sp>
      <p:pic>
        <p:nvPicPr>
          <p:cNvPr id="3" name="Picture 2" descr="mem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2209894"/>
          </a:xfrm>
          <a:prstGeom prst="rect">
            <a:avLst/>
          </a:prstGeom>
        </p:spPr>
      </p:pic>
      <p:pic>
        <p:nvPicPr>
          <p:cNvPr id="4" name="Picture 3" descr="runtim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3657600" cy="2268638"/>
          </a:xfrm>
          <a:prstGeom prst="rect">
            <a:avLst/>
          </a:prstGeom>
        </p:spPr>
      </p:pic>
      <p:pic>
        <p:nvPicPr>
          <p:cNvPr id="5" name="Picture 4" descr="loc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Rmsd Trpcage 500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Note: MDTraj and MDAnalysis metrics include helper scripts we wrote to save data files and plots; their APIs do not emit those artifacts automatically.</a:t>
            </a:r>
          </a:p>
        </p:txBody>
      </p:sp>
      <p:pic>
        <p:nvPicPr>
          <p:cNvPr id="4" name="Picture 3" descr="runtim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268638"/>
          </a:xfrm>
          <a:prstGeom prst="rect">
            <a:avLst/>
          </a:prstGeom>
        </p:spPr>
      </p:pic>
      <p:pic>
        <p:nvPicPr>
          <p:cNvPr id="5" name="Picture 4" descr="runtime_summary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268638"/>
          </a:xfrm>
          <a:prstGeom prst="rect">
            <a:avLst/>
          </a:prstGeom>
        </p:spPr>
      </p:pic>
      <p:pic>
        <p:nvPicPr>
          <p:cNvPr id="6" name="Picture 5" descr="runtime_summary_split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657600" cy="2260055"/>
          </a:xfrm>
          <a:prstGeom prst="rect">
            <a:avLst/>
          </a:prstGeom>
        </p:spPr>
      </p:pic>
      <p:pic>
        <p:nvPicPr>
          <p:cNvPr id="7" name="Picture 6" descr="memory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Rmsd Trpcage 500 (continued)</a:t>
            </a:r>
          </a:p>
        </p:txBody>
      </p:sp>
      <p:pic>
        <p:nvPicPr>
          <p:cNvPr id="3" name="Picture 2" descr="mem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2312547"/>
          </a:xfrm>
          <a:prstGeom prst="rect">
            <a:avLst/>
          </a:prstGeom>
        </p:spPr>
      </p:pic>
      <p:pic>
        <p:nvPicPr>
          <p:cNvPr id="4" name="Picture 3" descr="runtim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3657600" cy="2312547"/>
          </a:xfrm>
          <a:prstGeom prst="rect">
            <a:avLst/>
          </a:prstGeom>
        </p:spPr>
      </p:pic>
      <p:pic>
        <p:nvPicPr>
          <p:cNvPr id="5" name="Picture 4" descr="loc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Rmsf Trpcage 500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Note: MDTraj and MDAnalysis metrics include helper scripts we wrote to save data files and plots; their APIs do not emit those artifacts automatically.</a:t>
            </a:r>
          </a:p>
        </p:txBody>
      </p:sp>
      <p:pic>
        <p:nvPicPr>
          <p:cNvPr id="4" name="Picture 3" descr="runtim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268638"/>
          </a:xfrm>
          <a:prstGeom prst="rect">
            <a:avLst/>
          </a:prstGeom>
        </p:spPr>
      </p:pic>
      <p:pic>
        <p:nvPicPr>
          <p:cNvPr id="5" name="Picture 4" descr="runtime_summary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268638"/>
          </a:xfrm>
          <a:prstGeom prst="rect">
            <a:avLst/>
          </a:prstGeom>
        </p:spPr>
      </p:pic>
      <p:pic>
        <p:nvPicPr>
          <p:cNvPr id="6" name="Picture 5" descr="runtime_summary_split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657600" cy="2265770"/>
          </a:xfrm>
          <a:prstGeom prst="rect">
            <a:avLst/>
          </a:prstGeom>
        </p:spPr>
      </p:pic>
      <p:pic>
        <p:nvPicPr>
          <p:cNvPr id="7" name="Picture 6" descr="memory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Rmsf Trpcage 500 (continued)</a:t>
            </a:r>
          </a:p>
        </p:txBody>
      </p:sp>
      <p:pic>
        <p:nvPicPr>
          <p:cNvPr id="3" name="Picture 2" descr="mem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2209894"/>
          </a:xfrm>
          <a:prstGeom prst="rect">
            <a:avLst/>
          </a:prstGeom>
        </p:spPr>
      </p:pic>
      <p:pic>
        <p:nvPicPr>
          <p:cNvPr id="4" name="Picture 3" descr="runtim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3657600" cy="2229134"/>
          </a:xfrm>
          <a:prstGeom prst="rect">
            <a:avLst/>
          </a:prstGeom>
        </p:spPr>
      </p:pic>
      <p:pic>
        <p:nvPicPr>
          <p:cNvPr id="5" name="Picture 4" descr="loc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chestrator_single_run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3931920" cy="2490023"/>
          </a:xfrm>
          <a:prstGeom prst="rect">
            <a:avLst/>
          </a:prstGeom>
        </p:spPr>
      </p:pic>
      <p:pic>
        <p:nvPicPr>
          <p:cNvPr id="3" name="Picture 2" descr="orchestrator_single_run_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05840"/>
            <a:ext cx="3931920" cy="2486361"/>
          </a:xfrm>
          <a:prstGeom prst="rect">
            <a:avLst/>
          </a:prstGeom>
        </p:spPr>
      </p:pic>
      <p:pic>
        <p:nvPicPr>
          <p:cNvPr id="4" name="Picture 3" descr="orchestrator_single_run_analysis_break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931920" cy="2450327"/>
          </a:xfrm>
          <a:prstGeom prst="rect">
            <a:avLst/>
          </a:prstGeom>
        </p:spPr>
      </p:pic>
      <p:pic>
        <p:nvPicPr>
          <p:cNvPr id="5" name="Picture 4" descr="orchestrator_single_run_l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931920" cy="24863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Single-run vs aggregated FastMDAnalysis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Aggregated bars sum the computation, plotting, and overhead from individual analyze runs. Single-run bars reflect the orchestrated analyze(...) benchmark metrics for those same slices. Bottom-left chart breaks down runtime per analysis for the single run (slides counted as plotting).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Instrumentation Overview</a:t>
            </a:r>
          </a:p>
          <a:p>
            <a:pPr lvl="1">
              <a:defRPr sz="1600"/>
            </a:pPr>
            <a:r>
              <a:t>FastMDAnalysis: 6 modules, 11 functions, 0 external imports, 35 runs, 35 successful, 0 exceptions.</a:t>
            </a:r>
          </a:p>
          <a:p>
            <a:pPr lvl="1">
              <a:defRPr sz="1600"/>
            </a:pPr>
            <a:r>
              <a:t>Mdtraj: 4 modules, 10 functions, 3 external imports, 35 runs, 35 successful, 0 exceptions.</a:t>
            </a:r>
          </a:p>
          <a:p>
            <a:pPr lvl="1">
              <a:defRPr sz="1600"/>
            </a:pPr>
            <a:r>
              <a:t>Mdanalysis: 5 modules, 10 functions, 3 external imports, 35 runs, 35 successful, 0 exceptions.</a:t>
            </a:r>
          </a:p>
          <a:p>
            <a:pPr lvl="1">
              <a:defRPr sz="1600"/>
            </a:pPr>
            <a:r>
              <a:t>Snippet footprint overview: FastMDAnalysis 1 calc / 1 plot (2 total) lines, Mdtraj 21 calc / 28 plot (49 total) lines, Mdanalysis 38 calc / 28 plot (66 total) lines.</a:t>
            </a:r>
          </a:p>
          <a:p>
            <a:pPr lvl="1">
              <a:defRPr sz="1600"/>
            </a:pPr>
            <a:r>
              <a:t>Runtime overview: FastMDAnalysis 0.21s calc / 2.41s plot / 0.09s overhead (2.71s total), Mdtraj 0.04s calc / 2.42s plot / 0.08s overhead (2.54s total), Mdanalysis 3.99s calc / 2.66s plot / 0.01s overhead (6.65s total).</a:t>
            </a:r>
          </a:p>
          <a:p>
            <a:pPr lvl="1">
              <a:defRPr sz="1200" i="1"/>
            </a:pPr>
            <a:r>
              <a:t>Note: All tools show aggregate of 4 separate analysis calls (rmsd, rmsf, rg, cluster) using pre-loaded trajectories for apples-to-apples comparison. FastMDAnalysis orchestrator approach (single analyze() call) is preserved for LOC comparison only.</a:t>
            </a:r>
          </a:p>
          <a:p>
            <a:pPr lvl="1">
              <a:defRPr sz="1600"/>
            </a:pPr>
            <a:r>
              <a:t>Peak memory overview: FastMDAnalysis 9.30 MB calc / 16.63 MB plot (19.87 MB peak), Mdtraj 6.28 MB calc / 17.20 MB plot (20.48 MB peak), Mdanalysis 1.30 MB calc / 19.19 MB plot (19.19 MB peak).</a:t>
            </a:r>
          </a:p>
          <a:p>
            <a:pPr lvl="1">
              <a:defRPr sz="1600"/>
            </a:pPr>
            <a:r>
              <a:t>Charts on the following slides illustrate these touchpoint gaps.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