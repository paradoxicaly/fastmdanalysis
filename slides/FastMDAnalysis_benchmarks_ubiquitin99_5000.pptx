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Benchmarks – Ubiquitin 99 (5000 frames)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Runtime, memory, and usability comparisons versus MDTraj and MDAnalysis</a:t>
            </a:r>
          </a:p>
          <a:p>
            <a:r>
              <a:t>Note: third-party metrics include helper scripts for exporting data and plots.</a:t>
            </a:r>
          </a:p>
          <a:p>
            <a:r>
              <a:t>Dataset: Ubiquitin 99 (5000 frames)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Overview: Dependencies, LOC, Runtime, Memory</a:t>
            </a:r>
          </a:p>
        </p:txBody>
      </p:sp>
      <p:pic>
        <p:nvPicPr>
          <p:cNvPr id="3" name="Picture 2" descr="exter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268638"/>
          </a:xfrm>
          <a:prstGeom prst="rect">
            <a:avLst/>
          </a:prstGeom>
        </p:spPr>
      </p:pic>
      <p:pic>
        <p:nvPicPr>
          <p:cNvPr id="4" name="Picture 3" descr="loc_to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268638"/>
          </a:xfrm>
          <a:prstGeom prst="rect">
            <a:avLst/>
          </a:prstGeom>
        </p:spPr>
      </p:pic>
      <p:pic>
        <p:nvPicPr>
          <p:cNvPr id="6" name="Picture 5" descr="peak_mem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Instrumentation overview: touchpoints, modules, functions, LOC</a:t>
            </a:r>
          </a:p>
        </p:txBody>
      </p:sp>
      <p:pic>
        <p:nvPicPr>
          <p:cNvPr id="3" name="Picture 2" descr="instrumen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23070"/>
          </a:xfrm>
          <a:prstGeom prst="rect">
            <a:avLst/>
          </a:prstGeom>
        </p:spPr>
      </p:pic>
      <p:pic>
        <p:nvPicPr>
          <p:cNvPr id="4" name="Picture 3" descr="modules_pe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81986"/>
          </a:xfrm>
          <a:prstGeom prst="rect">
            <a:avLst/>
          </a:prstGeom>
        </p:spPr>
      </p:pic>
      <p:pic>
        <p:nvPicPr>
          <p:cNvPr id="5" name="Picture 4" descr="functions_per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181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Ubiquitin99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064774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093720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795816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1931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Ubiquitin99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1916817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041257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Ubiquitin99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26365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43084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998020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0767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Ubiquitin99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146376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0445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Ubiquitin99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169763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185639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908652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062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Ubiquitin99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027403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110982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Ubiquitin99 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177672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193665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918869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076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Ubiquitin99 5000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06002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128532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Instrumentation Overview</a:t>
            </a:r>
          </a:p>
          <a:p>
            <a:pPr lvl="1">
              <a:defRPr sz="1600"/>
            </a:pPr>
            <a:r>
              <a:t>FastMDAnalysis: 6 modules, 11 functions, 0 external imports, 35 runs, 35 successful, 0 exceptions.</a:t>
            </a:r>
          </a:p>
          <a:p>
            <a:pPr lvl="1">
              <a:defRPr sz="1600"/>
            </a:pPr>
            <a:r>
              <a:t>Mdtraj: 4 modules, 10 functions, 3 external imports, 35 runs, 35 successful, 0 exceptions.</a:t>
            </a:r>
          </a:p>
          <a:p>
            <a:pPr lvl="1">
              <a:defRPr sz="1600"/>
            </a:pPr>
            <a:r>
              <a:t>Mdanalysis: 5 modules, 10 functions, 3 external imports, 35 runs, 35 successful, 0 exceptions.</a:t>
            </a:r>
          </a:p>
          <a:p>
            <a:pPr lvl="1">
              <a:defRPr sz="1600"/>
            </a:pPr>
            <a:r>
              <a:t>Snippet footprint overview: FastMDAnalysis 4 calc / 4 plot (8 total) lines, Mdtraj 21 calc / 28 plot (49 total) lines, Mdanalysis 38 calc / 28 plot (66 total) lines.</a:t>
            </a:r>
          </a:p>
          <a:p>
            <a:pPr lvl="1">
              <a:defRPr sz="1600"/>
            </a:pPr>
            <a:r>
              <a:t>Runtime overview: FastMDAnalysis 0.81s calc / 4.50s plot / 0.10s overhead (5.41s total), Mdtraj 0.09s calc / 4.49s plot / 0.10s overhead (4.68s total), Mdanalysis 4.92s calc / 4.71s plot / 0.01s overhead (9.64s total).</a:t>
            </a:r>
          </a:p>
          <a:p>
            <a:pPr lvl="1">
              <a:defRPr sz="1200" i="1"/>
            </a:pPr>
            <a:r>
              <a:t>Note: FastMDAnalysis shows single-line analyze() orchestrator with integrated file I/O. Calc/plot split estimated using 17.5%/82.5% ratio from individual benchmarks. Other tools show aggregate with file I/O separated. Memory includes all analyses running together.</a:t>
            </a:r>
          </a:p>
          <a:p>
            <a:pPr lvl="1">
              <a:defRPr sz="1600"/>
            </a:pPr>
            <a:r>
              <a:t>Peak memory overview: FastMDAnalysis 41.25 MB calc / 31.74 MB plot (48.85 MB peak), Mdtraj 24.48 MB calc / 25.99 MB plot (41.66 MB peak), Mdanalysis 1.70 MB calc / 27.98 MB plot (27.98 MB peak).</a:t>
            </a:r>
          </a:p>
          <a:p>
            <a:pPr lvl="1">
              <a:defRPr sz="1600"/>
            </a:pPr>
            <a:r>
              <a:t>Charts on the following slides illustrate these touchpoint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