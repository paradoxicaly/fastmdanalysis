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FastMdAnalysis Benchmarks – Ubiquitin 99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Runtime, memory, and usability comparisons versus MDTraj and MDAnalysis</a:t>
            </a:r>
          </a:p>
          <a:p>
            <a:r>
              <a:t>Note: third-party metrics include helper scripts for exporting data and plots.</a:t>
            </a:r>
          </a:p>
          <a:p>
            <a:r>
              <a:t>Dataset: Ubiquitin 99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Overview: Dependencies, LOC, Runtime, Memory</a:t>
            </a:r>
          </a:p>
        </p:txBody>
      </p:sp>
      <p:pic>
        <p:nvPicPr>
          <p:cNvPr id="3" name="Picture 2" descr="external_modu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268638"/>
          </a:xfrm>
          <a:prstGeom prst="rect">
            <a:avLst/>
          </a:prstGeom>
        </p:spPr>
      </p:pic>
      <p:pic>
        <p:nvPicPr>
          <p:cNvPr id="4" name="Picture 3" descr="loc_tot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tota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268638"/>
          </a:xfrm>
          <a:prstGeom prst="rect">
            <a:avLst/>
          </a:prstGeom>
        </p:spPr>
      </p:pic>
      <p:pic>
        <p:nvPicPr>
          <p:cNvPr id="6" name="Picture 5" descr="peak_mem_total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400"/>
              <a:t>Instrumentation overview: touchpoints, modules, functions, LOC</a:t>
            </a:r>
          </a:p>
        </p:txBody>
      </p:sp>
      <p:pic>
        <p:nvPicPr>
          <p:cNvPr id="3" name="Picture 2" descr="instrumentatio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2323070"/>
          </a:xfrm>
          <a:prstGeom prst="rect">
            <a:avLst/>
          </a:prstGeom>
        </p:spPr>
      </p:pic>
      <p:pic>
        <p:nvPicPr>
          <p:cNvPr id="4" name="Picture 3" descr="modules_per_benchmar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3657600" cy="2181986"/>
          </a:xfrm>
          <a:prstGeom prst="rect">
            <a:avLst/>
          </a:prstGeom>
        </p:spPr>
      </p:pic>
      <p:pic>
        <p:nvPicPr>
          <p:cNvPr id="5" name="Picture 4" descr="functions_per_benchm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840480"/>
            <a:ext cx="3657600" cy="2181986"/>
          </a:xfrm>
          <a:prstGeom prst="rect">
            <a:avLst/>
          </a:prstGeom>
        </p:spPr>
      </p:pic>
      <p:pic>
        <p:nvPicPr>
          <p:cNvPr id="6" name="Picture 5" descr="orchestrator_loc_advant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840480"/>
            <a:ext cx="3657600" cy="1787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193665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Cluster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01749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Rg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68638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Rmsd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2913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Note: MDTraj and MDAnalysis metrics include helper scripts we wrote to save data files and plots; their APIs do not emit those artifacts automatically.</a:t>
            </a:r>
          </a:p>
        </p:txBody>
      </p:sp>
      <p:pic>
        <p:nvPicPr>
          <p:cNvPr id="4" name="Picture 3" descr="runtim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828800"/>
            <a:ext cx="3657600" cy="2268638"/>
          </a:xfrm>
          <a:prstGeom prst="rect">
            <a:avLst/>
          </a:prstGeom>
        </p:spPr>
      </p:pic>
      <p:pic>
        <p:nvPicPr>
          <p:cNvPr id="5" name="Picture 4" descr="runtime_summary_spl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828800"/>
            <a:ext cx="3657600" cy="2268638"/>
          </a:xfrm>
          <a:prstGeom prst="rect">
            <a:avLst/>
          </a:prstGeom>
        </p:spPr>
      </p:pic>
      <p:pic>
        <p:nvPicPr>
          <p:cNvPr id="6" name="Picture 5" descr="runtime_summary_split_al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657600" cy="2268638"/>
          </a:xfrm>
          <a:prstGeom prst="rect">
            <a:avLst/>
          </a:prstGeom>
        </p:spPr>
      </p:pic>
      <p:pic>
        <p:nvPicPr>
          <p:cNvPr id="7" name="Picture 6" descr="memory_summary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2800"/>
              <a:t>Rmsf Ubiquitin99 (continued)</a:t>
            </a:r>
          </a:p>
        </p:txBody>
      </p:sp>
      <p:pic>
        <p:nvPicPr>
          <p:cNvPr id="3" name="Picture 2" descr="memory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80"/>
            <a:ext cx="3657600" cy="2268638"/>
          </a:xfrm>
          <a:prstGeom prst="rect">
            <a:avLst/>
          </a:prstGeom>
        </p:spPr>
      </p:pic>
      <p:pic>
        <p:nvPicPr>
          <p:cNvPr id="4" name="Picture 3" descr="runtime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97280"/>
            <a:ext cx="3657600" cy="2209894"/>
          </a:xfrm>
          <a:prstGeom prst="rect">
            <a:avLst/>
          </a:prstGeom>
        </p:spPr>
      </p:pic>
      <p:pic>
        <p:nvPicPr>
          <p:cNvPr id="5" name="Picture 4" descr="loc_summa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49039"/>
            <a:ext cx="3657600" cy="226863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orchestrator_single_run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05840"/>
            <a:ext cx="3931920" cy="2486361"/>
          </a:xfrm>
          <a:prstGeom prst="rect">
            <a:avLst/>
          </a:prstGeom>
        </p:spPr>
      </p:pic>
      <p:pic>
        <p:nvPicPr>
          <p:cNvPr id="3" name="Picture 2" descr="orchestrator_single_run_mem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005840"/>
            <a:ext cx="3931920" cy="2475440"/>
          </a:xfrm>
          <a:prstGeom prst="rect">
            <a:avLst/>
          </a:prstGeom>
        </p:spPr>
      </p:pic>
      <p:pic>
        <p:nvPicPr>
          <p:cNvPr id="4" name="Picture 3" descr="orchestrator_single_run_analysis_breakdow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480560"/>
            <a:ext cx="3931920" cy="2450327"/>
          </a:xfrm>
          <a:prstGeom prst="rect">
            <a:avLst/>
          </a:prstGeom>
        </p:spPr>
      </p:pic>
      <p:pic>
        <p:nvPicPr>
          <p:cNvPr id="5" name="Picture 4" descr="orchestrator_single_run_l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480560"/>
            <a:ext cx="3931920" cy="24863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/>
              <a:t>Single-run vs aggregated FastMDAnalysis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00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i="1"/>
            </a:pPr>
            <a:r>
              <a:t>Aggregated bars sum the computation, plotting, and overhead from individual analyze runs. Single-run bars reflect the orchestrated analyze(...) benchmark metrics for those same slices. Bottom-left chart breaks down runtime per analysis for the single run (slides counted as plotting).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/>
              <a:t>Instrumentation Overview</a:t>
            </a:r>
          </a:p>
          <a:p>
            <a:pPr lvl="1">
              <a:defRPr sz="1600"/>
            </a:pPr>
            <a:r>
              <a:t>FastMDAnalysis: 6 modules, 11 functions, 0 external imports, 35 runs, 35 successful, 0 exceptions.</a:t>
            </a:r>
          </a:p>
          <a:p>
            <a:pPr lvl="1">
              <a:defRPr sz="1600"/>
            </a:pPr>
            <a:r>
              <a:t>Mdtraj: 4 modules, 10 functions, 3 external imports, 35 runs, 35 successful, 0 exceptions.</a:t>
            </a:r>
          </a:p>
          <a:p>
            <a:pPr lvl="1">
              <a:defRPr sz="1600"/>
            </a:pPr>
            <a:r>
              <a:t>Mdanalysis: 5 modules, 10 functions, 3 external imports, 35 runs, 35 successful, 0 exceptions.</a:t>
            </a:r>
          </a:p>
          <a:p>
            <a:pPr lvl="1">
              <a:defRPr sz="1600"/>
            </a:pPr>
            <a:r>
              <a:t>Snippet footprint overview: FastMDAnalysis 1 calc / 1 plot (2 total) lines, Mdtraj 21 calc / 28 plot (49 total) lines, Mdanalysis 38 calc / 28 plot (66 total) lines.</a:t>
            </a:r>
          </a:p>
          <a:p>
            <a:pPr lvl="1">
              <a:defRPr sz="1600"/>
            </a:pPr>
            <a:r>
              <a:t>Runtime overview: FastMDAnalysis 1.41s calc / 6.63s plot (8.03s total), Mdtraj 0.49s calc / 4.98s plot / 0.10s overhead (5.57s total), Mdanalysis 5.59s calc / 4.97s plot / 0.01s overhead (10.57s total).</a:t>
            </a:r>
          </a:p>
          <a:p>
            <a:pPr lvl="1">
              <a:defRPr sz="1600"/>
            </a:pPr>
            <a:r>
              <a:t>Peak memory overview: FastMDAnalysis 96.53 MB calc / 0.00 MB plot (96.53 MB peak), Mdtraj 236.23 MB calc / 27.16 MB plot (248.83 MB peak), Mdanalysis 2.03 MB calc / 27.77 MB plot (27.77 MB peak).</a:t>
            </a:r>
          </a:p>
          <a:p>
            <a:pPr lvl="1">
              <a:defRPr sz="1600"/>
            </a:pPr>
            <a:r>
              <a:t>Charts on the following slides illustrate these touchpoint gaps.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